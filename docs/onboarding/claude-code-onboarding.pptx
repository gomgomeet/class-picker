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(1분) 인사 후: "혹시 AI 코딩 도구, 자동완성까지만 써보신 분?" 손들게 하며 시작.</a:t>
            </a:r>
          </a:p>
          <a:p>
            <a:r>
              <a:t>오늘 목표는 단 하나 — 끝나고 자리로 돌아가서 바로 claude를 켜게 만드는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(1분) 기능이 많아 보여도 오늘 다 외울 필요 없다고 안심시키기.</a:t>
            </a:r>
          </a:p>
          <a:p>
            <a:r>
              <a:t>"Level 1만 따라 하면 오늘부터 씁니다. 2·3은 필요할 때 이 자료로 돌아오세요." — 심리적 부담 낮추는 게 목적.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핵심 문장 강조: 자연어로 말하면 '직접 일하는' 도구.</a:t>
            </a:r>
          </a:p>
          <a:p>
            <a:r>
              <a:t>마지막 불릿(승인 기반)을 힘줘서 — "여러분 허락 없이는 한 글자도 안 바뀝니다." 불안감 해소가 도입부의 최우선 과제.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왼쪽(자동완성)은 '타자 도우미', 오른쪽(에이전트)은 '주니어 동료'에 비유.</a:t>
            </a:r>
          </a:p>
          <a:p>
            <a:r>
              <a:t>하단 플로우(계획→탐색→수정→검증→커밋)를 손으로 짚으며 "이 전체 루프를 돈다"고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(30초) 전환 멘트: "백문이 불여일견. 5분 안에 세팅 끝내겠습니다."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npm 한 줄 강조. Node가 없는 청중이 있으면 nodejs.org에서 LTS 설치 안내.</a:t>
            </a:r>
          </a:p>
          <a:p>
            <a:r>
              <a:t>"프로젝트 폴더에서 실행"이 포인트 — 그 폴더가 Claude의 작업 범위가 된다고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요금 질문은 반드시 나옴 — 선제 대응: Pro/Max 구독자는 추가 결제 없음, API는 종량제.</a:t>
            </a:r>
          </a:p>
          <a:p>
            <a:r>
              <a:t>사내 규정이 있다면 여기서 언급 (회사 계정 / 개인 계정 정책).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"읽기 질문은 코드를 안 바꾼다"를 반복 강조 — 심리적 진입장벽 제거.</a:t>
            </a:r>
          </a:p>
          <a:p>
            <a:r>
              <a:t>청중에게 자기 프로젝트에 던질 질문 하나씩 생각해 보게 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스크린샷의 3가지 선택지를 하나씩 읽기.</a:t>
            </a:r>
          </a:p>
          <a:p>
            <a:r>
              <a:t>"diff를 읽는 습관이 실력입니다" — 이해 못 한 코드를 쌓지 말라는 메시지. Esc Esc는 뒤에서 다시 다룸.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(30초) "여기서부터 30분 코스입니다. 오늘 이것만 가져가셔도 성공."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신규 입사자 온보딩 사례로 공감 유도 — "코드 파악 2주 → 이틀".</a:t>
            </a:r>
          </a:p>
          <a:p>
            <a:r>
              <a:t>활용 예 3개 중 청중 업무에 가장 가까운 것을 골라 부연.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좌우 대비가 핵심 슬라이드. 왼쪽 요청도 '되긴 되지만' 왕복이 늘어난다고 설명.</a:t>
            </a:r>
          </a:p>
          <a:p>
            <a:r>
              <a:t>TIP 공식(대상·동작·제약)을 소리 내어 읽고 예시 하나 즉석에서 만들어 보이기.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(1분) 다 외울 필요 없음 — "/ 만 치면 목록이 뜹니다."</a:t>
            </a:r>
          </a:p>
          <a:p>
            <a:r>
              <a:t>/init은 Level 2 예고편으로만 언급하고 넘어가기.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Esc Esc(되돌리기)가 오늘 발표에서 가장 박수 받는 기능 — 시연 가치 높음.</a:t>
            </a:r>
          </a:p>
          <a:p>
            <a:r>
              <a:t>claude -c는 "터미널 껐다고 대화가 사라지지 않는다"는 안심 포인트.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(5분) 라이브 데모. 실패 대비 백업 GIF 준비 필수.</a:t>
            </a:r>
          </a:p>
          <a:p>
            <a:r>
              <a:t>시나리오: 구조 질문 → 결과 표시 기능 추가 → 브라우저 확인. 승인 프롬프트에서 잠깐 멈추고 diff를 청중과 같이 읽기.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(1분) 실습 과제를 소리 내어 읽고 "오늘 퇴근 전에 딱 15분"이라고 구체적 시간 제시.</a:t>
            </a:r>
          </a:p>
          <a:p>
            <a:r>
              <a:t>여기서 1차 질문 받기 (2~3개만).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(30초) "여기서부터는 '장난감'이 '업무 도구'가 되는 구간입니다."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(3분) 오늘 발표에서 가장 실용적인 슬라이드.</a:t>
            </a:r>
          </a:p>
          <a:p>
            <a:r>
              <a:t>"매번 같은 설명을 반복하고 있다면 그게 CLAUDE.md에 들어갈 내용" — 팀 프로젝트라면 커밋해서 공유하라고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"큰 작업은 Plan Mode가 기본값"이라는 습관을 심는 게 목표.</a:t>
            </a:r>
          </a:p>
          <a:p>
            <a:r>
              <a:t>계획 단계에서는 코드가 안 바뀌므로 부담 없이 퇴짜 놓아도 된다는 점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3개 카드 순서대로. Auto-accept는 "신뢰가 쌓인 뒤" — 첫 주부터 켜지 말라고 조언.</a:t>
            </a:r>
          </a:p>
          <a:p>
            <a:r>
              <a:t>하단 주의 문구 읽기: 자동 모드에서도 위험 명령은 다시 물어봄.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다이어그램의 요청 문장을 그대로 읽기 — "이 한 문장이 전부입니다."</a:t>
            </a:r>
          </a:p>
          <a:p>
            <a:r>
              <a:t>커밋 메시지 품질이 좋은 이유: diff를 실제로 읽고 쓰기 때문.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의외로 모르는 사람이 많은 기능. Ctrl+V로 터미널에 붙여넣기 가능.</a:t>
            </a:r>
          </a:p>
          <a:p>
            <a:r>
              <a:t>디자이너 시안 → 구현 사례가 가장 반응 좋음.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"한 대화 = 한 가지 목표" 공식만 기억시키기.</a:t>
            </a:r>
          </a:p>
          <a:p>
            <a:r>
              <a:t>길어지면 /compact, 주제 바뀌면 /clear. think hard는 어려운 버그에서 시도해 보라고.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(8분) 두 번째 라이브 데모 — Plan Mode 전환부터 PR 링크 열기까지.</a:t>
            </a:r>
          </a:p>
          <a:p>
            <a:r>
              <a:t>계획을 일부러 한 번 수정시키는 장면을 보여주면 Plan Mode의 가치가 확실히 전달됨.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(1분) "/init은 오늘 바로"가 핵심 행동 유도.</a:t>
            </a:r>
          </a:p>
          <a:p>
            <a:r>
              <a:t>2차 질문 받기.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(30초) "지금부터는 카탈로그입니다 — 뭐가 있는지만 알아 두세요." 속도 올리기.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"같은 요청을 3번 타이핑했다면 커맨드로 만들 때" — 파일 하나면 끝이라는 가벼움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'보조 Claude'라는 비유 하나로 충분. 깊이 들어가지 말 것.</a:t>
            </a:r>
          </a:p>
          <a:p>
            <a:r>
              <a:t>관심 있는 분은 튜토리얼 영상 EP6 참조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USB 포트 비유. 청중의 실제 도구(Slack? Jira?)를 물어보고 "그거 연결됩니다"로 연결.</a:t>
            </a:r>
          </a:p>
          <a:p>
            <a:r>
              <a:t>보안 유의사항 한 줄: 신뢰할 수 있는 서버만.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핵심 문장: "CLAUDE.md는 권고, Hooks는 강제."</a:t>
            </a:r>
          </a:p>
          <a:p>
            <a:r>
              <a:t>포매터 자동 실행 예가 가장 직관적.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각자 스타일대로: 터미널이 어색하면 IDE 확장부터, 자리를 비울 땐 웹.</a:t>
            </a:r>
          </a:p>
          <a:p>
            <a:r>
              <a:t>GitHub Actions @claude 멘션은 팀 도입 시 가장 파급력 큰 기능.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(1분) 표를 위에서 아래로 빠르게 — "상황이 오면 이 표만 다시 보세요."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①(작게 시작)과 ④(커밋 자주)만 힘줘서. 나머지는 배포 자료로 읽게.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(2분) 1번(diff 안 읽고 승인)이 가장 중요 — "AI 시대의 기술 부채는 이해 못 한 채 머지한 코드."</a:t>
            </a:r>
          </a:p>
          <a:p>
            <a:r>
              <a:t>4번(비밀키) 는 보안팀 대신 전달하는 마음으로.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(1분) "이 장은 인쇄해서 모니터에 붙이세요." 배포용 파일 위치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(1분) 오늘/이번 주/이번 달 3단계 행동 계획 읽기.</a:t>
            </a:r>
          </a:p>
          <a:p>
            <a:r>
              <a:t>튜토리얼 영상 시리즈(EP1~8) 링크 공유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마무리 멘트: "가장 좋은 시작은 지금 터미널을 열고 claude 라고 치는 것."</a:t>
            </a:r>
          </a:p>
          <a:p>
            <a:r>
              <a:t>Q&amp;A 후 실습 세션이 있다면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77240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클로드 코드 시작하기</a:t>
            </a:r>
          </a:p>
          <a:p>
            <a:pPr>
              <a:spcBef>
                <a:spcPts val="1000"/>
              </a:spcBef>
            </a:pPr>
            <a:r>
              <a:rPr sz="18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터미널에서 만나는 AI 코딩 에이전트 — 처음 사용하는 분들을 위한 온보딩</a:t>
            </a:r>
          </a:p>
        </p:txBody>
      </p:sp>
      <p:pic>
        <p:nvPicPr>
          <p:cNvPr id="3" name="Picture 2" descr="cover-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2331720"/>
            <a:ext cx="7680960" cy="43205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Claude Code Onboarding  ·  v1.0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오늘 배울 것 — 3단계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298448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1만 따라 해도 오늘부터 쓸 수 있습니다. Level 2·3은 필요할 때 돌아오세요.</a:t>
            </a:r>
          </a:p>
        </p:txBody>
      </p:sp>
      <p:pic>
        <p:nvPicPr>
          <p:cNvPr id="5" name="Picture 4" descr="diagram-levels-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783080"/>
            <a:ext cx="8595360" cy="48348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인트로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클로드 코드란?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11274552" cy="1143000"/>
          </a:xfrm>
          <a:prstGeom prst="roundRect">
            <a:avLst/>
          </a:prstGeom>
          <a:solidFill>
            <a:srgbClr val="222229"/>
          </a:solidFill>
          <a:ln w="1524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“터미널에서 실행되는 Anthropic의 </a:t>
            </a:r>
            <a:r>
              <a:rPr sz="20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AI 코딩 에이전트</a:t>
            </a:r>
            <a:r>
              <a:rPr sz="20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— 자연어로 말하면 코드베이스를 이해하고 직접 일합니다.”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말로 요청 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— "다크 모드 추가해줘" 처럼 목표만 말하면 됩니다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직접 작업 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— 파일을 읽고, 수정하고, 명령을 실행하고, 테스트합니다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Git까지 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— 커밋 메시지 작성, 브랜치, PR 생성까지 한 흐름으로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승인 기반 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— 모든 변경은 내가 확인하고 허락해야 실행됩니다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인트로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자동완성과 무엇이 다른가요?</a:t>
            </a:r>
          </a:p>
        </p:txBody>
      </p:sp>
      <p:pic>
        <p:nvPicPr>
          <p:cNvPr id="4" name="Picture 3" descr="diagram-agent-vs-auto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645920"/>
            <a:ext cx="9692640" cy="54521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인트로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64592" cy="32004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설치 &amp; 첫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5분이면 준비 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설치하고, 로그인하고, 첫 인사를 나눠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88620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설치 명령 한 줄과 로그인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첫 대화 시작하는 법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권한 승인 흐름 이해하기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설치 &amp; 첫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설치하기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1206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요구사항: 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macOS · Linux · Windows, Node.js 18+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npm 설치:</a:t>
            </a:r>
          </a:p>
          <a:p>
            <a:pPr>
              <a:spcAft>
                <a:spcPts val="1100"/>
              </a:spcAft>
            </a:pPr>
            <a:r>
              <a:rPr sz="13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npm install -g @anthropic-ai/claude-code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프로젝트 폴더에서 실행:</a:t>
            </a:r>
          </a:p>
          <a:p>
            <a:pPr>
              <a:spcAft>
                <a:spcPts val="1100"/>
              </a:spcAft>
            </a:pPr>
            <a:r>
              <a:rPr sz="13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cd 내-프로젝트  →  claude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업데이트는 자동 </a:t>
            </a:r>
            <a:r>
              <a:rPr sz="16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— 항상 최신 기능을 사용합니다</a:t>
            </a:r>
          </a:p>
        </p:txBody>
      </p:sp>
      <p:pic>
        <p:nvPicPr>
          <p:cNvPr id="5" name="Picture 4" descr="term-in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91640"/>
            <a:ext cx="585216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설치 &amp; 첫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로그인과 요금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첫 실행 시 브라우저가 열리며 </a:t>
            </a:r>
            <a:r>
              <a:rPr sz="17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Claude 계정으로 로그인</a:t>
            </a:r>
            <a:r>
              <a:rPr sz="17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합니다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두 가지 이용 방법</a:t>
            </a:r>
          </a:p>
          <a:p>
            <a:pPr>
              <a:spcAft>
                <a:spcPts val="1300"/>
              </a:spcAft>
            </a:pPr>
            <a:r>
              <a:rPr sz="14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① Claude Pro / Max 구독 — 구독에 포함, 추가 비용 없음</a:t>
            </a:r>
          </a:p>
          <a:p>
            <a:pPr>
              <a:spcAft>
                <a:spcPts val="1300"/>
              </a:spcAft>
            </a:pPr>
            <a:r>
              <a:rPr sz="14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② Claude API 키 — 쓴 만큼 과금 (팀·자동화에 적합)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/status</a:t>
            </a:r>
            <a:r>
              <a:rPr sz="17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로 로그인 상태·현재 모델을 언제든 확인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/model</a:t>
            </a:r>
            <a:r>
              <a:rPr sz="17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로 모델 변경 — 복잡한 작업은 Opus, 빠른 작업은 Sonnet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설치 &amp; 첫 실행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첫 대화 — 이렇게 물어보세요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298448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파일명이나 함수명을 몰라도 됩니다. Claude가 스스로 찾아냅니다.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611880" cy="192024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1488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“이 프로젝트 구조를 설명해줘”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46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처음 보는 코드베이스 파악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611880" cy="192024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21488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“빌드하고 실행하려면 어떻게 해?”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3246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문서 없는 프로젝트도 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920240"/>
            <a:ext cx="3611880" cy="192024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214884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“로그인 처리하는 코드가 어디 있어?”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3246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키워드만으로 코드 탐색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8FBC6F"/>
                </a:solidFill>
                <a:latin typeface="Malgun Gothic"/>
                <a:ea typeface="Malgun Gothic"/>
                <a:cs typeface="Malgun Gothic"/>
              </a:rPr>
              <a:t>TIP  </a:t>
            </a:r>
            <a:r>
              <a:rPr sz="15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읽기만 하는 질문은 코드를 바꾸지 않습니다 — 부담 없이 많이 물어보세요.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설치 &amp; 첫 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권한 시스템 — 허락 없이는 아무것도 바꾸지 않습니다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2120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파일 수정·명령 실행 전 </a:t>
            </a:r>
            <a:r>
              <a:rPr sz="16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항상 먼저 물어봅니다</a:t>
            </a:r>
          </a:p>
          <a:p>
            <a:pPr>
              <a:spcAft>
                <a:spcPts val="13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diff(변경 내용)를 눈으로 확인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후 승인 / 거부</a:t>
            </a:r>
          </a:p>
          <a:p>
            <a:pPr>
              <a:spcAft>
                <a:spcPts val="13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반복 승인이 번거로우면 </a:t>
            </a: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“allow all”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로 세션 동안 자동 승인</a:t>
            </a:r>
          </a:p>
          <a:p>
            <a:pPr>
              <a:spcAft>
                <a:spcPts val="13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Esc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로 언제든 중단 · </a:t>
            </a: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Esc Esc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로 이전 시점 복원</a:t>
            </a:r>
          </a:p>
        </p:txBody>
      </p:sp>
      <p:pic>
        <p:nvPicPr>
          <p:cNvPr id="5" name="Picture 4" descr="term-diff-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45920"/>
            <a:ext cx="5852160" cy="357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설치 &amp; 첫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64592" cy="32004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시작하기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첫 30분 — 질문하고, 수정하고, 기본 명령어에 익숙해집니다.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88620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코드베이스에 자유롭게 질문하기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자연어로 파일 수정 요청하기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필수 슬래시 커맨드 5개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코드베이스 질문하기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2120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Claude가 필요한 파일을 </a:t>
            </a:r>
            <a:r>
              <a:rPr sz="16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스스로 찾아 읽고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답합니다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새 팀 합류, 오래된 코드, 남의 코드 파악에 최고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활용 예</a:t>
            </a:r>
          </a:p>
          <a:p>
            <a:pPr>
              <a:spcAft>
                <a:spcPts val="1100"/>
              </a:spcAft>
            </a:pPr>
            <a:r>
              <a:rPr sz="13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“이 함수는 어디서 호출돼?”</a:t>
            </a:r>
          </a:p>
          <a:p>
            <a:pPr>
              <a:spcAft>
                <a:spcPts val="1100"/>
              </a:spcAft>
            </a:pPr>
            <a:r>
              <a:rPr sz="13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“결제 로직의 흐름을 단계별로 설명해줘”</a:t>
            </a:r>
          </a:p>
          <a:p>
            <a:pPr>
              <a:spcAft>
                <a:spcPts val="1100"/>
              </a:spcAft>
            </a:pPr>
            <a:r>
              <a:rPr sz="13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“이 에러가 왜 나는지 찾아줘”</a:t>
            </a:r>
          </a:p>
        </p:txBody>
      </p:sp>
      <p:pic>
        <p:nvPicPr>
          <p:cNvPr id="5" name="Picture 4" descr="term-codebase-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45920"/>
            <a:ext cx="5852160" cy="357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1 · 시작하기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파일 수정 요청하기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298448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원하는 "결과"를 말하세요 — 방법은 Claude가 찾습니다.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029200" cy="77724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60720" y="1828800"/>
            <a:ext cx="5852160" cy="777240"/>
          </a:xfrm>
          <a:prstGeom prst="roundRect">
            <a:avLst/>
          </a:prstGeom>
          <a:solidFill>
            <a:srgbClr val="222229"/>
          </a:solidFill>
          <a:ln w="1524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663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아쉬운 요청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828800"/>
            <a:ext cx="5486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좋은 요청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61488"/>
            <a:ext cx="5029200" cy="77724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60720" y="2761488"/>
            <a:ext cx="5852160" cy="77724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61488"/>
            <a:ext cx="4663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“코드 좀 고쳐줘”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761488"/>
            <a:ext cx="5486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“pick()이 같은 학생을 두 번 안 뽑게 고쳐줘”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94176"/>
            <a:ext cx="5029200" cy="77724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60720" y="3694176"/>
            <a:ext cx="5852160" cy="77724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94176"/>
            <a:ext cx="4663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“버그 있어”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694176"/>
            <a:ext cx="5486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“뽑기 버튼을 두 번 누르면 결과가 사라져. 원인 찾아서 고쳐줘”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26864"/>
            <a:ext cx="5029200" cy="77724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60720" y="4626864"/>
            <a:ext cx="5852160" cy="77724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26864"/>
            <a:ext cx="4663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“예쁘게 해줘”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4626864"/>
            <a:ext cx="5486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“버튼을 파란색 계열로, 모서리 둥글게 바꿔줘”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509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8FBC6F"/>
                </a:solidFill>
                <a:latin typeface="Malgun Gothic"/>
                <a:ea typeface="Malgun Gothic"/>
                <a:cs typeface="Malgun Gothic"/>
              </a:rPr>
              <a:t>TIP  </a:t>
            </a:r>
            <a:r>
              <a:rPr sz="15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대상 · 원하는 동작 · 제약 조건, 세 가지가 들어가면 한 번에 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1 · 시작하기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필수 슬래시 커맨드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298448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입력창에 / 를 치면 전체 목록이 나옵니다.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2120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/help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 사용법과 명령어 목록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/init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 CLAUDE.md 자동 생성 (Level 2에서 자세히)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/clear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 새 작업 시작 전 대화 초기화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/compact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 긴 대화 요약으로 컨텍스트 절약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/model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 Claude 모델 변경</a:t>
            </a:r>
          </a:p>
        </p:txBody>
      </p:sp>
      <p:pic>
        <p:nvPicPr>
          <p:cNvPr id="6" name="Picture 5" descr="term-slash-comm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91640"/>
            <a:ext cx="58521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1 · 시작하기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대화 제어하기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1064240" cy="91440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Esc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828800"/>
            <a:ext cx="3931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진행 중인 작업 즉시 중단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023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방향이 이상하다 싶으면 바로 멈추세요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9504"/>
            <a:ext cx="11064240" cy="91440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9504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Esc Esc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889504"/>
            <a:ext cx="3931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이전 시점으로 되돌리기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889504"/>
            <a:ext cx="4023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대화·코드를 체크포인트로 복원 (rewind)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50208"/>
            <a:ext cx="11064240" cy="91440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50208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claude -c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950208"/>
            <a:ext cx="3931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마지막 대화 이어가기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950208"/>
            <a:ext cx="4023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터미널을 껐다 켜도 이어서 작업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10912"/>
            <a:ext cx="11064240" cy="91440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010912"/>
            <a:ext cx="23774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 i="0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claude -r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010912"/>
            <a:ext cx="3931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과거 세션 목록에서 선택해 재개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5010912"/>
            <a:ext cx="4023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어제 하던 작업 다시 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1 · 시작하기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라이브 데모 ①  —  class-picker에 기능 추가하기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669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시나리오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1) “이 프로젝트 구조 설명해줘” — 코드베이스 파악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2) “뽑기 결과가 화면에 크게 표시되게 해줘” — 수정 승인 흐름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3) 브라우저 새로고침으로 결과 확인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예상 소요: </a:t>
            </a: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5분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828800"/>
            <a:ext cx="5212080" cy="393192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474720"/>
            <a:ext cx="5212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[ 데모 실패 대비 백업 GIF 자리 ]
assets/demo1-backup.gif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1 · 시작하기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Level 1 정리 — 오늘부터 이렇게 쓰세요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모르는 코드는 </a:t>
            </a: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일단 질문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— 읽기 질문은 코드를 바꾸지 않습니다</a:t>
            </a:r>
          </a:p>
          <a:p>
            <a:pPr>
              <a:spcAft>
                <a:spcPts val="18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수정 요청은 </a:t>
            </a: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결과 중심으로 구체적으로</a:t>
            </a:r>
          </a:p>
          <a:p>
            <a:pPr>
              <a:spcAft>
                <a:spcPts val="18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diff를 확인하는 습관 — </a:t>
            </a:r>
            <a:r>
              <a:rPr sz="18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승인 전에 꼭 읽기</a:t>
            </a:r>
          </a:p>
          <a:p>
            <a:pPr>
              <a:spcAft>
                <a:spcPts val="18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8FBC6F"/>
                </a:solidFill>
                <a:latin typeface="Malgun Gothic"/>
                <a:ea typeface="Malgun Gothic"/>
                <a:cs typeface="Malgun Gothic"/>
              </a:rPr>
              <a:t>실습 과제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 내 프로젝트에서 ① 구조 질문 ② 작은 수정 1건 ③ Esc Esc로 되돌려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1 · 시작하기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64592" cy="32004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Level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업무에 붙이기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반복 설명을 없애고, 안전하게 맡기고, Git까지 연결합니다.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88620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CLAUDE.md로 프로젝트 기억시키기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Plan Mode로 큰 작업 안전하게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커밋 · PR까지 한 흐름으로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CLAUDE.md — 프로젝트를 기억시키는 파일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298448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/init 한 번이면 초안이 자동 생성됩니다. 매 세션 자동으로 로드됩니다.</a:t>
            </a:r>
          </a:p>
        </p:txBody>
      </p:sp>
      <p:pic>
        <p:nvPicPr>
          <p:cNvPr id="5" name="Picture 4" descr="diagram-claude-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567" y="1691640"/>
            <a:ext cx="9052560" cy="50920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2 · 업무에 붙이기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Plan Mode — 실행 전에 계획부터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2120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Shift+Tab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으로 전환 — 계획을 먼저 보고 승인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이럴 때 쓰세요: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· 여러 파일을 건드리는 큰 변경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· 리팩터링, 마이그레이션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· 처음 맡겨보는 종류의 작업</a:t>
            </a:r>
          </a:p>
          <a:p>
            <a:pPr>
              <a:spcAft>
                <a:spcPts val="10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계획이 마음에 안 들면 </a:t>
            </a:r>
            <a:r>
              <a:rPr sz="16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그 자리에서 피드백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— 코드는 아직 안 바뀌었으니 안전</a:t>
            </a:r>
          </a:p>
        </p:txBody>
      </p:sp>
      <p:pic>
        <p:nvPicPr>
          <p:cNvPr id="5" name="Picture 4" descr="term-plan-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45920"/>
            <a:ext cx="5852160" cy="357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2 · 업무에 붙이기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권한 모드 3가지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298448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Shift+Tab 으로 순환합니다. 상황에 맞는 모드를 고르세요.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611880" cy="301752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기본 모드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수정·명령마다 승인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추천 상황
</a:t>
            </a:r>
            <a:r>
              <a:rPr sz="14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처음 쓸 때 · 중요한 코드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611880" cy="3017520"/>
          </a:xfrm>
          <a:prstGeom prst="roundRect">
            <a:avLst/>
          </a:prstGeom>
          <a:solidFill>
            <a:srgbClr val="222229"/>
          </a:solidFill>
          <a:ln w="15240">
            <a:solidFill>
              <a:srgbClr val="D9B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 i="0">
                <a:solidFill>
                  <a:srgbClr val="D9B45B"/>
                </a:solidFill>
                <a:latin typeface="Malgun Gothic"/>
                <a:ea typeface="Malgun Gothic"/>
                <a:cs typeface="Malgun Gothic"/>
              </a:rPr>
              <a:t>Auto-accept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88036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파일 수정 자동 승인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977639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추천 상황
</a:t>
            </a:r>
            <a:r>
              <a:rPr sz="14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반복 작업 · 신뢰가 쌓인 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920240"/>
            <a:ext cx="3611880" cy="3017520"/>
          </a:xfrm>
          <a:prstGeom prst="roundRect">
            <a:avLst/>
          </a:prstGeom>
          <a:solidFill>
            <a:srgbClr val="222229"/>
          </a:solidFill>
          <a:ln w="1524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19456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Plan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88036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계획만 세우고 실행 안 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977639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추천 상황
</a:t>
            </a:r>
            <a:r>
              <a:rPr sz="14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큰 변경의 사전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578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D9B45B"/>
                </a:solidFill>
                <a:latin typeface="Malgun Gothic"/>
                <a:ea typeface="Malgun Gothic"/>
                <a:cs typeface="Malgun Gothic"/>
              </a:rPr>
              <a:t>주의  </a:t>
            </a:r>
            <a:r>
              <a:rPr sz="15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자동 승인 모드에서도 위험한 명령(삭제, 배포 등)은 다시 물어봅니다.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2 · 업무에 붙이기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Git 작업 맡기기</a:t>
            </a:r>
          </a:p>
        </p:txBody>
      </p:sp>
      <p:pic>
        <p:nvPicPr>
          <p:cNvPr id="4" name="Picture 3" descr="diagram-git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645920"/>
            <a:ext cx="9692640" cy="54521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2 · 업무에 붙이기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이미지로 소통하기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298448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스크린샷을 터미널에 붙여넣거나(Ctrl+V) 파일을 드래그하세요.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64240" cy="86868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3291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디자인 시안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920240"/>
            <a:ext cx="71323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“이 시안대로 페이지를 만들어줘”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11064240" cy="86868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3291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에러 스크린샷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926080"/>
            <a:ext cx="71323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“이 화면처럼 깨져. 원인 찾아서 고쳐줘”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11064240" cy="86868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3291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완성 화면 비교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931920"/>
            <a:ext cx="71323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“구현 결과가 시안과 다른 부분을 찾아줘”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37760"/>
            <a:ext cx="11064240" cy="86868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937760"/>
            <a:ext cx="3291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손그림 와이어프레임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937760"/>
            <a:ext cx="71323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“이 스케치 레이아웃으로 잡아줘”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2 · 업무에 붙이기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컨텍스트 관리 — 길어진 대화 다루기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5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대화가 길어지면 응답이 느려지고 초점이 흐려집니다</a:t>
            </a:r>
          </a:p>
          <a:p>
            <a:pPr>
              <a:spcAft>
                <a:spcPts val="15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/clear</a:t>
            </a:r>
            <a:r>
              <a:rPr sz="17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 주제가 바뀔 때 — 새 작업은 새 대화로</a:t>
            </a:r>
          </a:p>
          <a:p>
            <a:pPr>
              <a:spcAft>
                <a:spcPts val="15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/compact</a:t>
            </a:r>
            <a:r>
              <a:rPr sz="17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 이어가야 할 때 — 지금까지를 요약하고 계속</a:t>
            </a:r>
          </a:p>
          <a:p>
            <a:pPr>
              <a:spcAft>
                <a:spcPts val="15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어려운 문제엔 확장 사고 </a:t>
            </a:r>
            <a:r>
              <a:rPr sz="17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— 요청에 “think hard”를 붙이면 더 깊이 고민합니다</a:t>
            </a:r>
          </a:p>
          <a:p>
            <a:pPr>
              <a:spcAft>
                <a:spcPts val="15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작업 단위로 끊기</a:t>
            </a:r>
            <a:r>
              <a:rPr sz="17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— 한 대화 = 한 가지 목표가 가장 정확합니다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2 · 업무에 붙이기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라이브 데모 ②  —  Plan Mode로 개선하고 PR까지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669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시나리오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1) Shift+Tab → Plan Mode 전환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2) “같은 학생이 연속으로 안 뽑히게 개선해줘” — 계획 검토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3) 승인 → 구현 → “브랜치 만들어서 PR 올려줘”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4) GitHub에서 PR 확인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예상 소요: </a:t>
            </a: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8분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828800"/>
            <a:ext cx="5212080" cy="393192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474720"/>
            <a:ext cx="52120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[ 데모 실패 대비 백업 GIF 자리 ]
assets/demo2-backup.gif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2 · 업무에 붙이기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Level 2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8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/init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은 오늘 바로 — 팀 프로젝트라면 CLAUDE.md를 커밋해서 공유</a:t>
            </a:r>
          </a:p>
          <a:p>
            <a:pPr>
              <a:spcAft>
                <a:spcPts val="18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큰 작업은 </a:t>
            </a: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Plan Mode가 기본값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이라고 생각하세요</a:t>
            </a:r>
          </a:p>
          <a:p>
            <a:pPr>
              <a:spcAft>
                <a:spcPts val="18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커밋 메시지 · PR 설명은 이제 Claude의 일</a:t>
            </a:r>
          </a:p>
          <a:p>
            <a:pPr>
              <a:spcAft>
                <a:spcPts val="18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8FBC6F"/>
                </a:solidFill>
                <a:latin typeface="Malgun Gothic"/>
                <a:ea typeface="Malgun Gothic"/>
                <a:cs typeface="Malgun Gothic"/>
              </a:rPr>
              <a:t>실습 과제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 ① /init 실행 후 CLAUDE.md 다듬기 ② Plan Mode로 작은 리팩터링 ③ PR 1건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2 · 업무에 붙이기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64592" cy="32004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Level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확장하기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"이런 것도 된다" — 필요해졌을 때 돌아와서 깊게 보세요.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388620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반복 작업 자동화 (커스텀 커맨드 · 스킬 · Hooks)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서브에이전트로 병렬 작업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MCP로 외부 도구 연결 · 어디서든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커스텀 슬래시 커맨드 &amp; 스킬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298448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자주 하는 요청을 나만의 명령으로 저장하세요.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.claude/commands/deploy-check.md</a:t>
            </a:r>
            <a:r>
              <a:rPr sz="17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파일을 만들면 → </a:t>
            </a: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/deploy-check</a:t>
            </a:r>
            <a:r>
              <a:rPr sz="17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명령 완성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프롬프트를 파일로 저장하는 것 — 마크다운만 알면 됩니다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스킬(Skills)</a:t>
            </a:r>
            <a:r>
              <a:rPr sz="17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은 더 큰 단위 — 절차·체크리스트·스크립트를 묶은 재사용 패키지</a:t>
            </a:r>
          </a:p>
          <a:p>
            <a:pPr>
              <a:spcAft>
                <a:spcPts val="13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활용 예</a:t>
            </a:r>
          </a:p>
          <a:p>
            <a:pPr>
              <a:spcAft>
                <a:spcPts val="1300"/>
              </a:spcAft>
            </a:pPr>
            <a:r>
              <a:rPr sz="14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/review-pr — 우리 팀 체크리스트로 코드 리뷰</a:t>
            </a:r>
          </a:p>
          <a:p>
            <a:pPr>
              <a:spcAft>
                <a:spcPts val="1300"/>
              </a:spcAft>
            </a:pPr>
            <a:r>
              <a:rPr sz="14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/release-note — 커밋 로그에서 릴리스 노트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3 · 확장하기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서브에이전트 — 일을 나눠 맡기기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별도 컨텍스트에서 도는 </a:t>
            </a: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보조 Claude</a:t>
            </a:r>
            <a:r>
              <a:rPr sz="17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— 역할·도구·모델을 지정해 정의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본 대화를 어지럽히지 않고 큰 탐색·검증 작업을 위임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활용 예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코드 리뷰어 에이전트 — 변경마다 자동으로 버그 사냥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테스트 러너 에이전트 — 실패한 테스트만 골라 수정 제안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   탐색 에이전트 — 넓은 코드베이스에서 관련 코드 수집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7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.claude/agents/</a:t>
            </a:r>
            <a:r>
              <a:rPr sz="17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폴더에 마크다운으로 정의합니다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3 · 확장하기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MCP — 외부 도구 연결</a:t>
            </a:r>
          </a:p>
        </p:txBody>
      </p:sp>
      <p:pic>
        <p:nvPicPr>
          <p:cNvPr id="4" name="Picture 3" descr="diagram-mc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567" y="1600200"/>
            <a:ext cx="9052560" cy="50920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3 · 확장하기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Hooks — 규칙을 자동으로 강제하기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298448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Claude의 특정 동작 전후에 내 스크립트를 실행합니다.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611880" cy="237744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파일 수정 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자동으로 포매터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PostToolUse → prettier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611880" cy="237744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28600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명령 실행 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4320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위험한 명령 차단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7033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PreToolUse → rm -rf 금지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611880" cy="237744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28600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작업 완료 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74320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알림 보내기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7033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i="0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Stop → 슬랙/데스크톱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“부탁"이 아니라 "보장" — </a:t>
            </a:r>
            <a:r>
              <a:rPr sz="15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CLAUDE.md의 규칙은 권고, Hooks는 강제입니다.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3 · 확장하기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어디서든 쓰기</a:t>
            </a:r>
          </a:p>
        </p:txBody>
      </p:sp>
      <p:pic>
        <p:nvPicPr>
          <p:cNvPr id="4" name="Picture 3" descr="diagram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645920"/>
            <a:ext cx="9326880" cy="5246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3 · 확장하기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Level 3 정리 — 언제 무엇을 꺼내 쓸까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1064240" cy="77724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035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같은 요청을 3번째 타이핑할 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828800"/>
            <a:ext cx="4297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→  커스텀 커맨드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24912"/>
            <a:ext cx="11064240" cy="77724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6035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“매번 이것 좀 지켜줬으면” 할 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724912"/>
            <a:ext cx="4297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→  CLAUDE.md → 안 지켜지면 Hooks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21024"/>
            <a:ext cx="11064240" cy="77724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21024"/>
            <a:ext cx="6035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작업이 크고 검증도 필요할 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621024"/>
            <a:ext cx="4297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→  서브에이전트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17136"/>
            <a:ext cx="11064240" cy="77724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17136"/>
            <a:ext cx="6035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Slack·Notion·DB가 필요한 작업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517136"/>
            <a:ext cx="4297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→  MCP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13248"/>
            <a:ext cx="11064240" cy="77724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413248"/>
            <a:ext cx="6035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자리를 떠나야 할 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5413248"/>
            <a:ext cx="4297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→  웹(claude.ai/code) · GitHub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Level 3 · 확장하기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실전 팁 5가지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① 작게 시작해서 신뢰 쌓기</a:t>
            </a:r>
            <a:r>
              <a:rPr sz="18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— 작은 수정 → 기능 → 리팩터링 순서로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② 검증 방법을 함께 주기</a:t>
            </a:r>
            <a:r>
              <a:rPr sz="18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— “고치고 테스트도 돌려서 확인해줘”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③ 중간에 개입하기</a:t>
            </a:r>
            <a:r>
              <a:rPr sz="18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— 이상하면 Esc, 방향만 다시 잡아주면 됩니다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④ 커밋을 자주</a:t>
            </a:r>
            <a:r>
              <a:rPr sz="18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— 잘 된 상태를 저장해두면 실험이 두렵지 않습니다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⑤ 안 되는 이유를 묻기</a:t>
            </a:r>
            <a:r>
              <a:rPr sz="18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— “왜 이 방법을 썼어?” 답을 듣고 배우세요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실전 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이것만은 피하세요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D9B45B"/>
                </a:solidFill>
                <a:latin typeface="Malgun Gothic"/>
                <a:ea typeface="Malgun Gothic"/>
                <a:cs typeface="Malgun Gothic"/>
              </a:rPr>
              <a:t>diff 안 읽고 전부 승인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— 이해 못 한 코드가 쌓이면 결국 내 빚입니다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D9B45B"/>
                </a:solidFill>
                <a:latin typeface="Malgun Gothic"/>
                <a:ea typeface="Malgun Gothic"/>
                <a:cs typeface="Malgun Gothic"/>
              </a:rPr>
              <a:t>한 대화에서 주제 계속 갈아타기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— 정확도가 떨어집니다. /clear 하세요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D9B45B"/>
                </a:solidFill>
                <a:latin typeface="Malgun Gothic"/>
                <a:ea typeface="Malgun Gothic"/>
                <a:cs typeface="Malgun Gothic"/>
              </a:rPr>
              <a:t>모호한 불만 반복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— “아니 그거 말고” 대신 원하는 결과를 다시 설명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D9B45B"/>
                </a:solidFill>
                <a:latin typeface="Malgun Gothic"/>
                <a:ea typeface="Malgun Gothic"/>
                <a:cs typeface="Malgun Gothic"/>
              </a:rPr>
              <a:t>비밀키·개인정보 붙여넣기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— .env 값은 가리고 공유하세요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D9B45B"/>
                </a:solidFill>
                <a:latin typeface="Malgun Gothic"/>
                <a:ea typeface="Malgun Gothic"/>
                <a:cs typeface="Malgun Gothic"/>
              </a:rPr>
              <a:t>백업 없이 대규모 변경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— 커밋 먼저, 실험은 그 다음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실전 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치트시트 — 이것만 기억하세요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86400" cy="91440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78308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486400" cy="91440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78308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claude -c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78308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마지막 대화 이어가기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5486400" cy="91440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/init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83464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CLAUDE.md 생성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834640"/>
            <a:ext cx="5486400" cy="91440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83464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/clear · /compact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83464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초기화 · 요약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5486400" cy="91440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Shift+Tab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88620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권한 모드 전환 (Plan Mode)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886200"/>
            <a:ext cx="5486400" cy="91440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88620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Esc · Esc Esc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88620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중단 · 되돌리기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37760"/>
            <a:ext cx="5486400" cy="91440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93776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/model · /status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93776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모델 변경 · 상태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937760"/>
            <a:ext cx="5486400" cy="914400"/>
          </a:xfrm>
          <a:prstGeom prst="roundRect">
            <a:avLst/>
          </a:prstGeom>
          <a:solidFill>
            <a:srgbClr val="222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93776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D97757"/>
                </a:solidFill>
                <a:latin typeface="Consolas"/>
                <a:ea typeface="Consolas"/>
                <a:cs typeface="Consolas"/>
              </a:rPr>
              <a:t>claude mcp add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93776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MCP 서버 연결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566928"/>
            <a:ext cx="502920" cy="64008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다음 단계 &amp; 리소스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오늘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 Level 1 실습 — 내 프로젝트에서 질문 3개, 수정 1건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이번 주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 /init + Plan Mode로 실제 업무 1건 완료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이번 달</a:t>
            </a:r>
            <a:r>
              <a:rPr sz="1800" b="0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  팀 CLAUDE.md 정착, 커스텀 커맨드 1개 만들기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공식 문서  </a:t>
            </a:r>
            <a:r>
              <a:rPr sz="1800" b="0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code.claude.com/docs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튜토리얼 영상  </a:t>
            </a:r>
            <a:r>
              <a:rPr sz="1800" b="0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EP1~EP8 — 이 자료와 같은 커리큘럼으로 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ECECEA"/>
                </a:solidFill>
                <a:latin typeface="Malgun Gothic"/>
                <a:ea typeface="Malgun Gothic"/>
                <a:cs typeface="Malgun Gothic"/>
              </a:rPr>
              <a:t>질문 있으신가요?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가장 좋은 시작은 지금 터미널을 열고  </a:t>
            </a:r>
            <a:r>
              <a:rPr sz="1800" b="1" i="0">
                <a:solidFill>
                  <a:srgbClr val="D97757"/>
                </a:solidFill>
                <a:latin typeface="Malgun Gothic"/>
                <a:ea typeface="Malgun Gothic"/>
                <a:cs typeface="Malgun Gothic"/>
              </a:rPr>
              <a:t>claude</a:t>
            </a:r>
            <a:r>
              <a:rPr sz="1800" b="0" i="0">
                <a:solidFill>
                  <a:srgbClr val="9B9B93"/>
                </a:solidFill>
                <a:latin typeface="Malgun Gothic"/>
                <a:ea typeface="Malgun Gothic"/>
                <a:cs typeface="Malgun Gothic"/>
              </a:rPr>
              <a:t>  라고 입력하는 것입니다.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