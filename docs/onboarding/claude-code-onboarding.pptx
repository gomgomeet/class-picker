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클로드 코드 시작하기</a:t>
            </a:r>
          </a:p>
          <a:p>
            <a:pPr>
              <a:spcBef>
                <a:spcPts val="1000"/>
              </a:spcBef>
            </a:pP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터미널에서 만나는 AI 코딩 에이전트 — 처음 사용하는 분들을 위한 온보딩</a:t>
            </a:r>
          </a:p>
        </p:txBody>
      </p:sp>
      <p:pic>
        <p:nvPicPr>
          <p:cNvPr id="3" name="Picture 2" descr="cover-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2331720"/>
            <a:ext cx="7680960" cy="43205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 Code Onboarding  ·  v1.0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오늘 배울 것 — 3단계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1만 따라 해도 오늘부터 쓸 수 있습니다. Level 2·3은 필요할 때 돌아오세요.</a:t>
            </a:r>
          </a:p>
        </p:txBody>
      </p:sp>
      <p:pic>
        <p:nvPicPr>
          <p:cNvPr id="5" name="Picture 4" descr="diagram-levels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783080"/>
            <a:ext cx="8595360" cy="4834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클로드 코드란?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11274552" cy="114300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“터미널에서 실행되는 Anthropic의 </a:t>
            </a:r>
            <a:r>
              <a:rPr sz="20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AI 코딩 에이전트</a:t>
            </a:r>
            <a:r>
              <a:rPr sz="20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자연어로 말하면 코드베이스를 이해하고 직접 일합니다.”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말로 요청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"다크 모드 추가해줘" 처럼 목표만 말하면 됩니다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직접 작업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파일을 읽고, 수정하고, 명령을 실행하고, 테스트합니다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Git까지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커밋 메시지 작성, 브랜치, PR 생성까지 한 흐름으로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승인 기반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모든 변경은 내가 확인하고 허락해야 실행됩니다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자동완성과 무엇이 다른가요?</a:t>
            </a:r>
          </a:p>
        </p:txBody>
      </p:sp>
      <p:pic>
        <p:nvPicPr>
          <p:cNvPr id="4" name="Picture 3" descr="diagram-agent-vs-auto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645920"/>
            <a:ext cx="9692640" cy="5452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인트로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5분이면 준비 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설치하고, 로그인하고, 첫 인사를 나눠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설치 명령 한 줄과 로그인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대화 시작하는 법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승인 흐름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요구사항: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macOS · Linux · Windows, Node.js 18+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npm 설치: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npm install -g @anthropic-ai/claude-code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프로젝트 폴더에서 실행: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cd 내-프로젝트  →  claude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업데이트는 자동 </a:t>
            </a:r>
            <a:r>
              <a:rPr sz="16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— 항상 최신 기능을 사용합니다</a:t>
            </a:r>
          </a:p>
        </p:txBody>
      </p:sp>
      <p:pic>
        <p:nvPicPr>
          <p:cNvPr id="5" name="Picture 4" descr="term-in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91640"/>
            <a:ext cx="585216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로그인과 요금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실행 시 브라우저가 열리며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 계정으로 로그인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합니다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두 가지 이용 방법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① Claude Pro / Max 구독 — 구독에 포함, 추가 비용 없음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② Claude API 키 — 쓴 만큼 과금 (팀·자동화에 적합)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/status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로그인 상태·현재 모델을 언제든 확인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/model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모델 변경 — 복잡한 작업은 Opus, 빠른 작업은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첫 대화 — 이렇게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파일명이나 함수명을 몰라도 됩니다. Claude가 스스로 찾아냅니다.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프로젝트 구조를 설명해줘”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처음 보는 코드베이스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“빌드하고 실행하려면 어떻게 해?”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문서 없는 프로젝트도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920240"/>
            <a:ext cx="3611880" cy="1920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1488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“로그인 처리하는 코드가 어디 있어?”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키워드만으로 코드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TIP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읽기만 하는 질문은 코드를 바꾸지 않습니다 — 부담 없이 많이 물어보세요.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시스템 — 허락 없이는 아무것도 바꾸지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수정·명령 실행 전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항상 먼저 물어봅니다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diff(변경 내용)를 눈으로 확인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후 승인 / 거부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반복 승인이 번거로우면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“allow all”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로 세션 동안 자동 승인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Esc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언제든 중단 ·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Esc Esc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로 이전 시점 복원</a:t>
            </a:r>
          </a:p>
        </p:txBody>
      </p:sp>
      <p:pic>
        <p:nvPicPr>
          <p:cNvPr id="5" name="Picture 4" descr="term-diff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설치 &amp; 첫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첫 30분 — 질문하고, 수정하고, 기본 명령어에 익숙해집니다.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코드베이스에 자유롭게 질문하기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자연어로 파일 수정 요청하기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필수 슬래시 커맨드 5개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코드베이스 질문하기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Claude가 필요한 파일을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스스로 찾아 읽고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답합니다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새 팀 합류, 오래된 코드, 남의 코드 파악에 최고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“이 함수는 어디서 호출돼?”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“결제 로직의 흐름을 단계별로 설명해줘”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“이 에러가 왜 나는지 찾아줘”</a:t>
            </a:r>
          </a:p>
        </p:txBody>
      </p:sp>
      <p:pic>
        <p:nvPicPr>
          <p:cNvPr id="5" name="Picture 4" descr="term-codebase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 요청하기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원하는 "결과"를 말하세요 — 방법은 Claude가 찾습니다.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0" y="1828800"/>
            <a:ext cx="5852160" cy="77724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아쉬운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82880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좋은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61488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60720" y="2761488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“코드 좀 고쳐줘”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761488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“pick()이 같은 학생을 두 번 안 뽑게 고쳐줘”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94176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60720" y="3694176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“버그 있어”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694176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“뽑기 버튼을 두 번 누르면 결과가 사라져. 원인 찾아서 고쳐줘”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26864"/>
            <a:ext cx="502920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60720" y="4626864"/>
            <a:ext cx="585216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4663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“예쁘게 해줘”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626864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“버튼을 파란색 계열로, 모서리 둥글게 바꿔줘”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50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TIP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대상 · 원하는 동작 · 제약 조건, 세 가지가 들어가면 한 번에 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필수 슬래시 커맨드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입력창에 / 를 치면 전체 목록이 나옵니다.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/help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사용법과 명령어 목록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/init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CLAUDE.md 자동 생성 (Level 2에서 자세히)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/clear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새 작업 시작 전 대화 초기화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/compact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긴 대화 요약으로 컨텍스트 절약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/model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Claude 모델 변경</a:t>
            </a:r>
          </a:p>
        </p:txBody>
      </p:sp>
      <p:pic>
        <p:nvPicPr>
          <p:cNvPr id="6" name="Picture 5" descr="term-slash-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91640"/>
            <a:ext cx="58521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대화 제어하기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828800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진행 중인 작업 즉시 중단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방향이 이상하다 싶으면 바로 멈추세요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9504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9504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 Esc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889504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이전 시점으로 되돌리기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9504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대화·코드를 체크포인트로 복원 (rewind)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50208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50208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마지막 대화 이어가기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950208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터미널을 껐다 켜도 이어서 작업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10912"/>
            <a:ext cx="1106424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010912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010912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과거 세션 목록에서 선택해 재개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010912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어제 하던 작업 다시 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라이브 데모 ①  —  class-picker에 기능 추가하기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시나리오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1) “이 프로젝트 구조 설명해줘” — 코드베이스 파악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2) “뽑기 결과가 화면에 크게 표시되게 해줘” — 수정 승인 흐름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3) 브라우저 새로고침으로 결과 확인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예상 소요: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5분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828800"/>
            <a:ext cx="5212080" cy="393192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3474720"/>
            <a:ext cx="5212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[ 데모 실패 대비 백업 GIF 자리 ]
assets/demo1-backup.gif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1 정리 — 오늘부터 이렇게 쓰세요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모르는 코드는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일단 질문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읽기 질문은 코드를 바꾸지 않습니다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수정 요청은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결과 중심으로 구체적으로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diff를 확인하는 습관 —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승인 전에 꼭 읽기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실습 과제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내 프로젝트에서 ① 구조 질문 ② 작은 수정 1건 ③ Esc Esc로 되돌려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1 · 시작하기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업무에 붙이기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반복 설명을 없애고, 안전하게 맡기고, Git까지 연결합니다.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CLAUDE.md로 프로젝트 기억시키기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Plan Mode로 큰 작업 안전하게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커밋 · PR까지 한 흐름으로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 — 프로젝트를 기억시키는 파일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/init 한 번이면 초안이 자동 생성됩니다. 매 세션 자동으로 로드됩니다.</a:t>
            </a:r>
          </a:p>
        </p:txBody>
      </p:sp>
      <p:pic>
        <p:nvPicPr>
          <p:cNvPr id="5" name="Picture 4" descr="diagram-claude-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691640"/>
            <a:ext cx="9052560" cy="50920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Plan Mode — 실행 전에 계획부터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5212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Shift+Tab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으로 전환 — 계획을 먼저 보고 승인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이럴 때 쓰세요: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여러 파일을 건드리는 큰 변경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리팩터링, 마이그레이션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· 처음 맡겨보는 종류의 작업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계획이 마음에 안 들면 </a:t>
            </a:r>
            <a:r>
              <a:rPr sz="16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그 자리에서 피드백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코드는 아직 안 바뀌었으니 안전</a:t>
            </a:r>
          </a:p>
        </p:txBody>
      </p:sp>
      <p:pic>
        <p:nvPicPr>
          <p:cNvPr id="5" name="Picture 4" descr="term-plan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5920"/>
            <a:ext cx="5852160" cy="357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모드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Shift+Tab 으로 순환합니다. 상황에 맞는 모드를 고르세요.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11880" cy="301752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기본 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수정·명령마다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처음 쓸 때 · 중요한 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20240"/>
            <a:ext cx="3611880" cy="301752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B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Auto-accept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파일 수정 자동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반복 작업 · 신뢰가 쌓인 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920240"/>
            <a:ext cx="3611880" cy="3017520"/>
          </a:xfrm>
          <a:prstGeom prst="roundRect">
            <a:avLst/>
          </a:prstGeom>
          <a:solidFill>
            <a:srgbClr val="222229"/>
          </a:solidFill>
          <a:ln w="1524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Plan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계획만 세우고 실행 안 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39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추천 상황
</a:t>
            </a: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큰 변경의 사전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578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주의 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자동 승인 모드에서도 위험한 명령(삭제, 배포 등)은 다시 물어봅니다.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Git 작업 맡기기</a:t>
            </a:r>
          </a:p>
        </p:txBody>
      </p:sp>
      <p:pic>
        <p:nvPicPr>
          <p:cNvPr id="4" name="Picture 3" descr="diagram-gi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645920"/>
            <a:ext cx="9692640" cy="5452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이미지로 소통하기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스크린샷을 터미널에 붙여넣거나(Ctrl+V) 파일을 드래그하세요.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디자인 시안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시안대로 페이지를 만들어줘”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에러 스크린샷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92608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화면처럼 깨져. 원인 찾아서 고쳐줘”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완성 화면 비교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93192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“구현 결과가 시안과 다른 부분을 찾아줘”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64240" cy="86868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3291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손그림 와이어프레임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937760"/>
            <a:ext cx="7132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“이 스케치 레이아웃으로 잡아줘”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컨텍스트 관리 — 길어진 대화 다루기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대화가 길어지면 응답이 느려지고 초점이 흐려집니다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/clear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주제가 바뀔 때 — 새 작업은 새 대화로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/compact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이어가야 할 때 — 지금까지를 요약하고 계속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어려운 문제엔 확장 사고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— 요청에 “think hard”를 붙이면 더 깊이 고민합니다</a:t>
            </a:r>
          </a:p>
          <a:p>
            <a:pPr>
              <a:spcAft>
                <a:spcPts val="15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작업 단위로 끊기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한 대화 = 한 가지 목표가 가장 정확합니다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라이브 데모 ②  —  Plan Mode로 개선하고 PR까지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시나리오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1) Shift+Tab → Plan Mode 전환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2) “같은 학생이 연속으로 안 뽑히게 개선해줘” — 계획 검토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3) 승인 → 구현 → “브랜치 만들어서 PR 올려줘”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4) GitHub에서 PR 확인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예상 소요: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8분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828800"/>
            <a:ext cx="5212080" cy="393192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3474720"/>
            <a:ext cx="5212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[ 데모 실패 대비 백업 GIF 자리 ]
assets/demo2-backup.gif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2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/init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은 오늘 바로 — 팀 프로젝트라면 CLAUDE.md를 커밋해서 공유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큰 작업은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Plan Mode가 기본값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이라고 생각하세요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커밋 메시지 · PR 설명은 이제 Claude의 일</a:t>
            </a:r>
          </a:p>
          <a:p>
            <a:pPr>
              <a:spcAft>
                <a:spcPts val="18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8FBC6F"/>
                </a:solidFill>
                <a:latin typeface="Malgun Gothic"/>
                <a:ea typeface="Malgun Gothic"/>
                <a:cs typeface="Malgun Gothic"/>
              </a:rPr>
              <a:t>실습 과제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① /init 실행 후 CLAUDE.md 다듬기 ② Plan Mode로 작은 리팩터링 ③ PR 1건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2 · 업무에 붙이기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64592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Level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402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확장하기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"이런 것도 된다" — 필요해졌을 때 돌아와서 깊게 보세요.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8862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반복 작업 자동화 (커스텀 커맨드 · 스킬 · Hooks)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서브에이전트로 병렬 작업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MCP로 외부 도구 연결 · 어디서든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커스텀 슬래시 커맨드 &amp; 스킬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자주 하는 요청을 나만의 명령으로 저장하세요.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.claude/commands/deploy-check.md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파일을 만들면 →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/deploy-check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명령 완성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프롬프트를 파일로 저장하는 것 — 마크다운만 알면 됩니다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스킬(Skills)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은 더 큰 단위 — 절차·체크리스트·스크립트를 묶은 재사용 패키지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/review-pr — 우리 팀 체크리스트로 코드 리뷰</a:t>
            </a:r>
          </a:p>
          <a:p>
            <a:pPr>
              <a:spcAft>
                <a:spcPts val="13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/release-note — 커밋 로그에서 릴리스 노트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서브에이전트 — 일을 나눠 맡기기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별도 컨텍스트에서 도는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보조 Claude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역할·도구·모델을 지정해 정의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본 대화를 어지럽히지 않고 큰 탐색·검증 작업을 위임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활용 예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코드 리뷰어 에이전트 — 변경마다 자동으로 버그 사냥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테스트 러너 에이전트 — 실패한 테스트만 골라 수정 제안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   탐색 에이전트 — 넓은 코드베이스에서 관련 코드 수집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7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.claude/agents/</a:t>
            </a:r>
            <a:r>
              <a:rPr sz="17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폴더에 마크다운으로 정의합니다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 — 외부 도구 연결</a:t>
            </a:r>
          </a:p>
        </p:txBody>
      </p:sp>
      <p:pic>
        <p:nvPicPr>
          <p:cNvPr id="4" name="Picture 3" descr="diagram-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60020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Hooks — 규칙을 자동으로 강제하기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298448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Claude의 특정 동작 전후에 내 스크립트를 실행합니다.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파일 수정 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자동으로 포매터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PostToolUse → prettier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명령 실행 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위험한 명령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PreToolUse → rm -rf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011680"/>
            <a:ext cx="3611880" cy="23774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작업 완료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알림 보내기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033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Stop → 슬랙/데스크톱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“부탁"이 아니라 "보장" — </a:t>
            </a:r>
            <a:r>
              <a:rPr sz="15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CLAUDE.md의 규칙은 권고, Hooks는 강제입니다.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어디서든 쓰기</a:t>
            </a:r>
          </a:p>
        </p:txBody>
      </p:sp>
      <p:pic>
        <p:nvPicPr>
          <p:cNvPr id="4" name="Picture 3" descr="diagram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645920"/>
            <a:ext cx="9326880" cy="5246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Level 3 정리 — 언제 무엇을 꺼내 쓸까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같은 요청을 3번째 타이핑할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커스텀 커맨드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“매번 이것 좀 지켜줬으면” 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724912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CLAUDE.md → 안 지켜지면 Hooks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21024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21024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작업이 크고 검증도 필요할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21024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서브에이전트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17136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17136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Slack·Notion·DB가 필요한 작업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17136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13248"/>
            <a:ext cx="11064240" cy="77724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413248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자리를 떠나야 할 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413248"/>
            <a:ext cx="4297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→  웹(claude.ai/code) · GitHub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Level 3 · 확장하기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실전 팁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① 작게 시작해서 신뢰 쌓기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작은 수정 → 기능 → 리팩터링 순서로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② 검증 방법을 함께 주기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“고치고 테스트도 돌려서 확인해줘”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③ 중간에 개입하기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이상하면 Esc, 방향만 다시 잡아주면 됩니다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④ 커밋을 자주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잘 된 상태를 저장해두면 실험이 두렵지 않습니다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⑤ 안 되는 이유를 묻기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— “왜 이 방법을 썼어?” 답을 듣고 배우세요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실전 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이것만은 피하세요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diff 안 읽고 전부 승인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이해 못 한 코드가 쌓이면 결국 내 빚입니다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한 대화에서 주제 계속 갈아타기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정확도가 떨어집니다. /clear 하세요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모호한 불만 반복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“아니 그거 말고” 대신 원하는 결과를 다시 설명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비밀키·개인정보 붙여넣기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.env 값은 가리고 공유하세요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B45B"/>
                </a:solidFill>
                <a:latin typeface="Malgun Gothic"/>
                <a:ea typeface="Malgun Gothic"/>
                <a:cs typeface="Malgun Gothic"/>
              </a:rPr>
              <a:t>백업 없이 대규모 변경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— 커밋 먼저, 실험은 그 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실전 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치트시트 — 이것만 기억하세요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78308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시작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783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-c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78308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마지막 대화 이어가기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3464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/init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83464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CLAUDE.md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83464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83464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/clear · /compact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3464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초기화 · 요약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Shift+Tab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88620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권한 모드 전환 (Plan Mode)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88620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Esc · Esc Esc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88620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중단 · 되돌리기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3776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/model · /status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93776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모델 변경 · 상태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937760"/>
            <a:ext cx="5486400" cy="914400"/>
          </a:xfrm>
          <a:prstGeom prst="roundRect">
            <a:avLst/>
          </a:prstGeom>
          <a:solidFill>
            <a:srgbClr val="2222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93776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D97757"/>
                </a:solidFill>
                <a:latin typeface="Consolas"/>
                <a:ea typeface="Consolas"/>
                <a:cs typeface="Consolas"/>
              </a:rPr>
              <a:t>claude mcp add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937760"/>
            <a:ext cx="24688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MCP 서버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66928"/>
            <a:ext cx="502920" cy="64008"/>
          </a:xfrm>
          <a:prstGeom prst="round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다음 단계 &amp; 리소스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오늘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Level 1 실습 — 내 프로젝트에서 질문 3개, 수정 1건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이번 주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/init + Plan Mode로 실제 업무 1건 완료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이번 달</a:t>
            </a:r>
            <a:r>
              <a:rPr sz="1800" b="0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  팀 CLAUDE.md 정착, 커스텀 커맨드 1개 만들기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공식 문서  </a:t>
            </a:r>
            <a:r>
              <a:rPr sz="1800" b="0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code.claude.com/docs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튜토리얼 영상  </a:t>
            </a:r>
            <a:r>
              <a:rPr sz="1800" b="0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EP1~EP8 — 이 자료와 같은 커리큘럼으로 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7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ECECEA"/>
                </a:solidFill>
                <a:latin typeface="Malgun Gothic"/>
                <a:ea typeface="Malgun Gothic"/>
                <a:cs typeface="Malgun Gothic"/>
              </a:rPr>
              <a:t>질문 있으신가요?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가장 좋은 시작은 지금 터미널을 열고  </a:t>
            </a:r>
            <a:r>
              <a:rPr sz="1800" b="1" i="0">
                <a:solidFill>
                  <a:srgbClr val="D97757"/>
                </a:solidFill>
                <a:latin typeface="Malgun Gothic"/>
                <a:ea typeface="Malgun Gothic"/>
                <a:cs typeface="Malgun Gothic"/>
              </a:rPr>
              <a:t>claude</a:t>
            </a:r>
            <a:r>
              <a:rPr sz="1800" b="0" i="0">
                <a:solidFill>
                  <a:srgbClr val="9B9B93"/>
                </a:solidFill>
                <a:latin typeface="Malgun Gothic"/>
                <a:ea typeface="Malgun Gothic"/>
                <a:cs typeface="Malgun Gothic"/>
              </a:rPr>
              <a:t>  라고 입력하는 것입니다.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